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3" r:id="rId14"/>
    <p:sldId id="265" r:id="rId16"/>
    <p:sldId id="267" r:id="rId18"/>
    <p:sldId id="268" r:id="rId19"/>
    <p:sldId id="269" r:id="rId20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3" r:id="rId194"/>
    <p:sldId id="444" r:id="rId195"/>
    <p:sldId id="445" r:id="rId196"/>
    <p:sldId id="446" r:id="rId197"/>
    <p:sldId id="447" r:id="rId198"/>
    <p:sldId id="448" r:id="rId199"/>
    <p:sldId id="451" r:id="rId202"/>
    <p:sldId id="452" r:id="rId20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course (%)</c:v>
                </c:pt>
              </c:strCache>
            </c:strRef>
          </c:tx>
          <c:spPr>
            <a:solidFill>
              <a:srgbClr val="1F6FEB"/>
            </a:solidFill>
          </c:spPr>
          <c:cat>
            <c:strRef>
              <c:f>Sheet1!$A$2:$A$5</c:f>
              <c:strCache>
                <c:ptCount val="4"/>
                <c:pt idx="0">
                  <c:v>LU1 — Data
Engineering</c:v>
                </c:pt>
                <c:pt idx="1">
                  <c:v>LU2 — Exploratory
Data Analysis</c:v>
                </c:pt>
                <c:pt idx="2">
                  <c:v>LU3 — Modelling</c:v>
                </c:pt>
                <c:pt idx="3">
                  <c:v>LU4 — Implementation
&amp; Operations</c:v>
                </c:pt>
              </c:strCache>
            </c:strRef>
          </c:cat>
          <c:val>
            <c:numRef>
              <c:f>Sheet1!$B$2:$B$5</c:f>
              <c:numCache>
                <c:formatCode>0"%"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30</c:v>
                </c:pt>
                <c:pt idx="3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>
                  <a:solidFill>
                    <a:srgbClr val="161B2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61B26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course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548640"/>
            <a:ext cx="2011680" cy="12259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Fine Tuning Open Source LLM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C922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v1.0  ·  2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679192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679192"/>
            <a:ext cx="91440" cy="7132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679192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EXPERTISE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AI, large language models, model fine tuning and applied machine learning.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575304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575304"/>
            <a:ext cx="91440" cy="7132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575304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generative AI, LLM application development, data science and MLOps.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471416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471416"/>
            <a:ext cx="91440" cy="7132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471416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PhD; ACTA / DACE certified; 20+ years in AI and digital transformation.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5367528"/>
            <a:ext cx="6949440" cy="7132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5367528"/>
            <a:ext cx="91440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5367528"/>
            <a:ext cx="64008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Who you are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name, your organisation and your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Python background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experience with Python, PyTorch and the Hugging Face libraries, if any.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Your AI background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Have you used an LLM API, or trained or fine-tuned a model of your own before?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What you want to build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What would you like to fine-tune a model to do after this course?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attendance — stay for the whole day to get the most from the course.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LMS / TMS  ·  lms-tms.tertiaryinfotech.com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Your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ms-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632" y="1783080"/>
            <a:ext cx="7203687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Log in with your registration e-mail, open this course, and download all five items.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WHAT WE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Map — Four Learning Units, One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urse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5796" y="1783080"/>
            <a:ext cx="8477359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Each Learning Unit is one block of the day: its core labs run in class, the rest are self-paced.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Day, 9:30am – 5:30pm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9:30am – 12:25pm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 · course orientation · core concepts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LU1: Data Engineering — Labs 1 and 5 in class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–  LU2: Exploratory Data Analysis — cleaning and sanitisation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Lab 7 in class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· 12:25pm – 12:55pm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12:55pm – 5:30pm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LU2 continued: feature engineering, analysis and visualisation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Modelling — LoRA, QLoRA and Unsloth · Labs 15 and 17 in class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–  LU4: benchmarking, bias, explainability and deployment · Lab 21 in class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other 20 labs are self-paced extension work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Course recap · Q&amp;A · Course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FOUR LEARNING UNITS  ·  26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LU1 — Data Engineering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repositories for fine tuning · dataset ingestion · synthetic data generation · transformation into chat/instruction format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LU2 — Exploratory Data Analysis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Cleaning and sanitisation · optimisation strategies for higher-quality outputs · feature engineering · ETL pipelines · analysis and visualisation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LU3 — Modelling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Framing the fine-tuning problem · multi-modal embeddings · LoRA and QLoRA · Unsloth · training and monitoring · hyperparameter optimisation · advanced loss 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LU4 — Machine Learning Implementation and 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Benchmarking against state of the art · explainability and interpretability · bias and fairness · continuous pre-training pipelines ·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Before We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account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Sign in to Google Colab at https://colab.research.google.com — a free T4 GPU is all you need.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Select a GPU runtime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Runtime &gt; Change runtime type &gt; T4 GPU. Every lab assumes an attached GPU.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Install the stack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pip install unsloth, then --no-deps trl peft accelerate bitsandbytes.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Hugging Face account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 account at huggingface.co for datasets and for pushing your adapter.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Lab files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Download the labs ZIP from the LMS — each lab folder carries its own mock dataset.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local GPU needed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Kaggle (2× T4) or a local NVIDIA GPU with 12GB+ VRAM also work.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Why Fine Tuning, and What LoRA Actually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Large Language Model?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model of language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An LLM such as Llama, GPT or Claude is trained to understand and generate human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Why 'large'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Large in training data and in parameter count — from one billion to hundreds of billions.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Autoregressive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It predicts the next token, one at a time, conditioned on everything written so far.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Pre-trained, then adapted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Pre-training builds general capability; adaptation makes it useful for YOUR task.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PRE-TRAINING  ·  WHY YOU DON'T DO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 Base Model Is Created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Collect a web-scale text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Self-supervised next-token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Costing millions of GPU-hours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Producing a general base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Which you then adapt cheaply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You will never pre-train. You will always adapt.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Pre-training a base model costs millions of dollars. Adapting one to your domain, style and format costs a few dollars of GPU time — and that gap is what this course is about.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THE FIRST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Prompt, Retrieve, or Fine-Tune?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daptation-decision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188" y="1783080"/>
            <a:ext cx="8824576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Choosing wrongly is the most expensive mistake in the field. Diagnose what is MISSING before you spend anything.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CHOOSING THE RIGHT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Ways to Adapt a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1967377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Fixes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783080"/>
            <a:ext cx="1967377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783080"/>
            <a:ext cx="1967377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783080"/>
            <a:ext cx="1967377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When to use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Prompt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258568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258568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Instruction following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258568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258568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258568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258568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Worse (long prompt)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258568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258568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Always try this first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Few-shot prompting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838297"/>
            <a:ext cx="1967377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838297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Output format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838297"/>
            <a:ext cx="1967377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838297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838297"/>
            <a:ext cx="1967377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838297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Worse (examples in prompt)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838297"/>
            <a:ext cx="1967377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838297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handful of examples suffice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RAG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418026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418026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Missing or changing facts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418026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418026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418026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418026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Worse (retrieval hop)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418026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418026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Knowledge changes weekly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LoRA fine tuning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3997755"/>
            <a:ext cx="1967377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3997755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Style, tone, format, behaviour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9579" y="3997755"/>
            <a:ext cx="1967377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595" y="3997755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 (1 GPU)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3997755"/>
            <a:ext cx="1967377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2" y="3997755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Best (short prompt)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333" y="3997755"/>
            <a:ext cx="1967377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2349" y="3997755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Behaviour must be shown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Full fine tuning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42202" y="4577484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70218" y="4577484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Same as LoRA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09579" y="4577484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37595" y="4577484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Very high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76956" y="4577484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04972" y="4577484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Best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44333" y="4577484"/>
            <a:ext cx="1967377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72349" y="4577484"/>
            <a:ext cx="1711345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Rarely justified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Fine tuning teaches BEHAVIOUR. It does not reliably teach FACTS — facts belong in retrieval, where they can be updated without retraining.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DESIGN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Should You Fine-Tune This Problem?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77240" y="2514600"/>
            <a:ext cx="4206240" cy="2468880"/>
          </a:xfrm>
          <a:prstGeom prst="diamond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Can you describe
the desired behaviour
in a prompt?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965960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965960"/>
            <a:ext cx="100584" cy="1371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2112264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YES — prompt or RAG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514600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a system prompt and a few examples get you there, stop. It is free, instant, and there is nothing to maintain. Add RAG if the gap is missing facts.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983480" y="2651760"/>
            <a:ext cx="594360" cy="109728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77840" y="3977639"/>
            <a:ext cx="5806440" cy="137160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3977639"/>
            <a:ext cx="100584" cy="1371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4123943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NO — fine-tune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526279"/>
            <a:ext cx="530352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If the behaviour must be SHOWN through hundreds of examples rather than described, that is exactly what fine tuning is for. This is the case throughout this course.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749040"/>
            <a:ext cx="594360" cy="914399"/>
          </a:xfrm>
          <a:prstGeom prst="line">
            <a:avLst/>
          </a:prstGeom>
          <a:ln w="25400">
            <a:solidFill>
              <a:srgbClr val="F59E0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77240" y="5623560"/>
            <a:ext cx="10634472" cy="6583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742432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useful test: if you cannot write the rule down, but you can show fifty examples of it, you have a fine-tuning problem.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THE CORE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LoRA — Low-Rank Adaptation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ra-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998" y="1783080"/>
            <a:ext cx="9232956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Freeze W. Learn two small matrices beside it. Because B starts at zero, training begins as an exact no-op and only ever adds.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WHAT YOU ACTUALLY CONFIGURE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Four LoRA Parameters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 — the rank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Adapter capacity. 8–16 for style and format; 32–64 for genuinely new domain skills.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lora_alpha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Update strength through the α/r scaling factor. A common default is alpha = 2r.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target_modules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WHERE adaptation happens. Attention-only underfits; ALL linear layers is what works.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lora_dropout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Regularisation on the adapter input. 0 is optimised in Unsloth; 0.05 is a safe default.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bias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Whether bias terms train. 'none' is standard and is the optimised path.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use_rslora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Scale by α/√r instead of α/r, keeping the update stable as the rank rises.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a LoRA Configuration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Every fine-tune in this course is configured by these fields — learn to read them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C586C0"/>
                </a:solidFill>
                <a:latin typeface="Consolas"/>
              </a:rPr>
              <a:t>from peft import LoraConfig, get_peft_model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config = LoraConfig(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r              = 16,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lora_alpha     = 32,      # alpha/r = 2.0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lora_dropout   = 0.05,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bias           = 'none',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task_type      = 'CAUSAL_LM',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target_modules = [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'q_proj','k_proj','v_proj','o_proj',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   'gate_proj','up_proj','down_proj',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],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model = get_peft_model(base_model, config)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r =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Each adapted layer learns 16·(d_in+d_out) parameters instead of d_in·d_out.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lora_alpha = 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The update is scaled by α/r = 2.0 before being added to Wx.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target_modules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Attention AND the MLP projections. Attention-only is the classic mistake.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task_type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CAUSAL_LM tells PEFT which head and label-shifting convention to use.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CHOOSING 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Rank Sets Capacity — and the Whole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ank-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323" y="1783080"/>
            <a:ext cx="6924306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Capacity rises linearly with r, but validation loss usually saturates by r=16. Raise the rank only when the task needs genuinely new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THE FINDING THAT MATTERS 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target_modules Decides Output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rget-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705" y="1783080"/>
            <a:ext cx="7155542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Targeting attention only (q_proj, v_proj) underfits badly. Adding the MLP gate/up/down projections is what produces usable output.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LO3 · QLoRA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QLoRA: quantise the frozen weights, train in full precision.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base model is stored in 4-bit NF4 and dequantised on the fly for each matmul, while the small adapter stays in bf16. Memory falls three to four times again; quality barely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LO3 · THE MEMORY LADDER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Each Method Costs in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mory-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067" y="1783080"/>
            <a:ext cx="6684818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VRAM, not FLOPs, is the binding constraint. Only QLoRA fits a 7B fine-tune inside a free Colab session.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THE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LoRA vs QLoRA vs Full Fine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Full fine tune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LoRA (bf16)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QLoRA (4-bit)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Trainable params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&lt; 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&lt; 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Base weights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741676"/>
            <a:ext cx="2623170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741676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Updated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741676"/>
            <a:ext cx="2623170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741676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Frozen, bf16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741676"/>
            <a:ext cx="2623170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741676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Frozen, 4-bit NF4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VRAM (7B model)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224784"/>
            <a:ext cx="2623170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224784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~60+ GB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224784"/>
            <a:ext cx="2623170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224784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~16–20 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224784"/>
            <a:ext cx="2623170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224784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~6–8 GB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Quality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707892"/>
            <a:ext cx="2623170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707892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Baseline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707892"/>
            <a:ext cx="2623170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707892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≈ full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707892"/>
            <a:ext cx="2623170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707892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≈ LoRA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Catastrophic forgetting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191000"/>
            <a:ext cx="2623170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191000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 risk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191000"/>
            <a:ext cx="2623170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191000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191000"/>
            <a:ext cx="2623170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191000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Output artifact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42202" y="4674108"/>
            <a:ext cx="2623170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70218" y="4674108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Full model (GBs)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65372" y="4674108"/>
            <a:ext cx="2623170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3388" y="4674108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Adapter (MBs)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88542" y="4674108"/>
            <a:ext cx="2623170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16558" y="4674108"/>
            <a:ext cx="2367138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Adapter (MBs)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LoRA often BEATS full fine tuning in practice, because freezing the base weights is itself a defence against catastrophic forgetting.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LO3 ·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Unsloth Adds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Hand-written Triton kernels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Attention, MLP and cross-entropy are re-implemented for the GPU rather than composed from PyTorch ops.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Manual backward pass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gradients are derived by hand instead of being built by autograd, removing redundant 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Roughly 2× faster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Same model, same data, same final loss — just less time on the GPU.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70–80% less VRAM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Its own gradient-checkpointing implementation offloads activations intelligently.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accuracy loss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It is a kernel optimisation, not an approximation — the mathematics is unchanged.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Drop-in API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FastLanguageModel.from_pretrained and get_peft_model mirror the Transformers/PEFT calls.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LO3 · MEASURED, NOT CLAIMED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Unsloth's Kernels Buy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nsloth-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382" y="1783080"/>
            <a:ext cx="9122187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You will measure these numbers yourself in Lab 17 and record them in unsloth_benchmark.csv.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LO3 · THE REAL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the Memory Actually Goes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2623170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Full fine-tune (7B)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5372" y="1783080"/>
            <a:ext cx="2623170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338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LoRA (bf16)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8542" y="1783080"/>
            <a:ext cx="2623170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6558" y="1783080"/>
            <a:ext cx="2367138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QLoRA (4-bit)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258568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258568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Model weights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4220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7021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14 GB (bf16)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537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338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14 GB (frozen)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788542" y="2258568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6558" y="2258568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3.5 GB (NF4)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2838297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2838297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Gradients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4220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021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14 GB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6537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338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~0.05 GB (adapter only)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88542" y="2838297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6558" y="2838297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~0.05 GB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418026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418026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Optimizer state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28 GB (Adam: 2 moments)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537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38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~0.1 GB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88542" y="3418026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16558" y="3418026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~0.1 GB (8-bit)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3997755"/>
            <a:ext cx="2764962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" y="3997755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Activations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4220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7021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4-8 GB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6537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9338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2-4 GB (checkpointing)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88542" y="3997755"/>
            <a:ext cx="2623170" cy="57972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16558" y="3997755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2-4 GB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77484"/>
            <a:ext cx="2764962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577484"/>
            <a:ext cx="2508930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Rough total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~60+ GB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6537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338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~16-20 GB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88542" y="4577484"/>
            <a:ext cx="2623170" cy="579729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16558" y="4577484"/>
            <a:ext cx="2367138" cy="57972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~6-8 GB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7240" y="5358381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" y="5358381"/>
            <a:ext cx="100584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468109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optimizer state is the hidden cost: Adam keeps two moments per trainable parameter. Freezing the base weights removes it almost entirely — that is where LoRA's saving comes from.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TERMS YOU WILL USE ALL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Vocabulary of Fine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Adapter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small trainable module (A and B) added beside a frozen weight matrix.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Merging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Folding (α/r)·BA back into W to produce a single standalone model with zero added latency.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Quantisation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Storing weights at lower precision (4-bit NF4) and dequantising on the fly for compute.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Effective batch size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per_device_batch × gradient_accumulation × devices — what the optimiser actually sees.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Gradient checkpointing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Recomputing activations in the backward pass instead of storing them; trades time for VRAM.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Catastrophic forgetting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Losing general capability while gaining domain capability. Measure it; do not assume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LO3 · IF YOU REMEMBER NOTHING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Four Numbers That Decide a Fine-Tune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906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906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Learning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2e-4 for LoRA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0268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3187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187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3369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369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Epochs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1-3, watch val loss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5731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8650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8832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832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451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Rank 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794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8-16 style, 32-64 skill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11946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41130" y="2148840"/>
            <a:ext cx="2370582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41130" y="2148840"/>
            <a:ext cx="2370582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42957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42957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9146" y="3118104"/>
            <a:ext cx="211455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target_modules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32570" y="3822192"/>
            <a:ext cx="218770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all linear layers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ORDER MATTERS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Tune the learning rate first — it dominates every other choice. Only then does it make sense to search over rank, alpha or batch size.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HOW THE COURSE FITS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Fine-Tuning Pipeline,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netunin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0969"/>
            <a:ext cx="10634472" cy="37104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Every lab sits at one of these six stages. Most failed fine-tunes fail at stages 2 and 3 — not at stage 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LESSON PLAN · TIME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the Course Time Goes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77240" y="1783080"/>
          <a:ext cx="10634472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30368"/>
            <a:ext cx="10634472" cy="10058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230368"/>
            <a:ext cx="100584" cy="1005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340096"/>
            <a:ext cx="10149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632704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LU3 carries the largest weighting because LoRA, QLoRA and Unsloth are where the core practical skill sits — expect the most hands-on time there.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 repositories for fine tuning · dataset ingestion · synthetic data generation · transformation into chat/instruction format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LU1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transformation methods to ingest and prepare synthetic data using cloud-based model tools.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Hands-on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Labs 1 and 5 in class · Labs 2–4 and 6 self-paced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Weighting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25% of course time · Morning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data repositories for fine tuning · Identify and implement a dataset ingestion solution · Identify and implement a data transformation 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fine-tuning data repository is versioned, immutable and reproducible — the Hugging Face Hub, an S3/GCS bucket or a local `datasets` cache all serve this role, and every training run must be traceable to an exact dataset revision.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data generation creates training examples where real data is scarce, sensitive or expensive — self-instruct bootstrapping, teacher-model distillation, template expansion and programmatic augmentation are the four families you will use.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Synthetic data must preserve the statistical properties of the real distribution: match the label balance, the length distribution and the domain vocabulary, then de-duplicate against the real set so you do not train on near-copies.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Generative architectures differ in what they model: conditional GANs learn a generator/discriminator game, diffusion models learn to reverse a noising process, and autoregressive transformers factorise the sequence probability token by token.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Engineering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Hardware acceleration: GPUs give general-purpose massively-parallel matrix maths with large VRAM; TPUs are systolic-array ASICs tuned for dense matmul at scale. VRAM, not FLOPs, is the binding constraint for fine tuning.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Cloud training platforms — Colab, Kaggle, AWS SageMaker, Vertex AI and Azure ML — supply elastic accelerators, managed storage and experiment tracking so a fine-tune is reproducible.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`datasets` library streams, shards, maps and caches datasets far larger than RAM; `load_dataset`, `.map()`, `.filter()` and `.train_test_split()` are the four verbs you need.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Transformation converts raw records into the exact chat/instruction template the base model expects — a mismatched template is the single most common cause of a failed fine-tune.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Engineering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Alpaca instruction template (instruction / input / response) and the ChatML role template (system / user / assistant) are the two dominant formats; `tokenizer.apply_chat_template()` renders the model's own correct form.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87368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4178808"/>
            <a:ext cx="9427464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Every training example must end with the EOS token, or the fine-tuned model will never learn to stop generating.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THE DATA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From Raw Records to a Training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CSV · JSONL · Hub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one schema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Split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seeded 80/10/10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chat + EOS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hash + card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fine-tuning dataset is not a folder of files — it is a versioned, hashed, reproducible artifact that a training run can be traced back to.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SYNTHETIC DATA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Ways to Make Synthetic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1967377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How it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783080"/>
            <a:ext cx="1967377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Diversity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783080"/>
            <a:ext cx="1967377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783080"/>
            <a:ext cx="1967377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Watch out for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Template expansion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Fill slots in a grammar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Repetitive phrasing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Self-instruct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Teacher model writes new items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Inference cost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Teacher's own biases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Back-translation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out and back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Meaning drift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Programmatic augment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Perturb real examples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9579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595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Low–medium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2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Free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333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2349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Near-duplicates of the seed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Whatever the method, prove it statistically: match the length distribution, the label balance and the vocabulary, then de-duplicate against the real set.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LU1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Chat Template Is Not Optional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single most common cause of a fine-tune that trains cleanly but behaves badly.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 WRONG — a template the base model never saw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text = f'Q: {question}\nA: {answer}'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 RIGHT — the model's OWN template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text = tokenizer.apply_chat_template(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[{'role':'user',      'content': question},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     {'role':'assistant', 'content': answer}],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tokenize=False,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6A9955"/>
                </a:solidFill>
                <a:latin typeface="Consolas"/>
              </a:rPr>
              <a:t># ALWAYS append EOS, or it never learns to stop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text = text + tokenizer.eos_token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apply_chat_template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Emits the exact special tokens the base model was pre-trained with.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mismatched template means the model must re-learn the format from scratch.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The EOS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Without it the model generates until it hits max_new_tokens, every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Verify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Decode with skip_special_tokens=False and LOOK at the tokens.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LU1 · ARCHITECTURES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Generative Architectures Compared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Family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1967377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Generation 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783080"/>
            <a:ext cx="1967377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Training stability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783080"/>
            <a:ext cx="1967377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Compute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783080"/>
            <a:ext cx="1967377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Typical 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Conditional GAN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Sharp, can mode-collapse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 — adversarial game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image synthesis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Diffusion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Highest fidelity + diversity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 — simple MSE loss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Very high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Text-to-image, audio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Autoregressive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State of the art for text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 — cross-entropy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LLMs, code, multi-modal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Diffusion trains stably because its objective is a plain MSE on the added noise — there is no adversarial game to balance.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HARDWARE AND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Accelerators and Cloud Platforms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NVIDIA T4 (16 GB)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 on Colab. Enough for QLoRA on 1B–8B models — the environment for this course.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NVIDIA A100 / H100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40–80 GB. Full fine-tuning up to 7B, or large-scale LoRA training.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TPU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Systolic-array ASIC, excellent at large dense matmul, but needs XLA-compatible code.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AWS SageMaker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Managed training jobs, experiment tracking, S3 storage — production pipelines.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Google Vertex 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Managed training with GPU or TPU, plus model registry and endpoints.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Azure ML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Managed compute and MLOps for Microsoft estates.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the Fine-Tuning Environment on Colab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Versioned Data Repository for Fine Tuning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Generate Synthetic Training Data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Ingest Datasets from Multiple 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5–6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Transform Data into Chat and Instruction Formats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Compare Generative Architectures and Accelerator Options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HANDS-ON · IN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Fine-Tuning Environment on Colab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 a reproducible GPU environment and verify the accelerator, VRAM and library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Open a free Colab GPU runtime, install the Unsloth + PEFT + TRL stack, and verify the GPU, the available VRAM and every library version. You then record the environment in a reproducibility manifest so the same run can be repeated later.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verified GPU notebook environment and an env_manifest.json recording the GPU model, VRAM, CUDA version and the exact version of every library used in the course.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Google Colab, NVIDIA T4, PyTorch, Unsloth, PEFT, TRL, bitsandbytes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nvidia-smi shows a T4 (or better), torch.cuda.is_available() is True, env_manifest.json exists with all seven library versions filled in, and the test model loads and unloads without an out-of-memory error.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Open a Colab GPU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Google Colab · T4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Confirm the GPU is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nvidia-smi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Install the fine-tuning 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unsloth · peft · trl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PyTorch sees the GPU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torch.cuda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 every library version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env_manifest.json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Prepare a reproducible GPU environment and verify the accelerator, VRAM and library stack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the Fine-Tuning Environment on Colab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nvidia-smi shows a T4 (or better), torch.cuda.is_available() is True, env_manifest.json exists with all seven library versions filled in, and the test model loads and unloads without an out-of-memory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Versioned Data Repository for Fine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an immutable, versioned, reproducible data repository for a fine-tuning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Take a raw customer-support export and turn it into a proper fine-tuning data repository: a content-hashed, versioned, split dataset with a dataset card, so any future training run can be traced back to the exact bytes it was trained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versioned dataset repository at data_repo/v1/ containing train/validation/test splits, a manifest.json with a SHA-256 content hash and row counts, and a DATASET_CARD.md.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Hugging Face datasets, pandas, hashlib, JSON Lines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data_repo/v1/ contains three JSONL splits whose row counts sum to the number of usable records, manifest.json records a SHA-256 for each split, DATASET_CARD.md exists, and load_dataset() returns a DatasetDict with all three splits.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the raw ticket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pandas · 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Normalise to one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instruction/input/output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Split with a fixed seed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scikit-learn · seed 3407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JSON Lines splits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train/val/test.jsonl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Content-hash and card 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SHA-256 · DATASET_CARD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an immutable, versioned, reproducible data repository for a fine-tuning corpus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Versioned Data Repository for Fine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data_repo/v1/ contains three JSONL splits whose row counts sum to the number of usable records, manifest.json records a SHA-256 for each split, DATASET_CARD.md exists, and load_dataset() returns a DatasetDict with all three splits.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Synthetic Training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Generate synthetic fine-tuning examples that preserve the statistical properties of real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Real data is scarce and privacy-restricted, so you generate synthetic examples using three different methods — template expansion, self-instruct bootstrapping and programmatic augmentation — then prove statistically that the synthetic set matches the real distribution.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synthetic dataset of several hundred examples produced by three methods, plus a distribution comparison report showing length, label-balance and vocabulary overlap against the real seed 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Hugging Face datasets, pandas, numpy, scipy, matplotlib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synthetic_examples.jsonl contains several hundred de-duplicated examples produced by all three methods, the KS test p-value is reported, vocabulary overlap is between roughly 40% and 95%, and synthetic_distribution.png shows the two length histograms overlapping.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3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the real seed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seed_examples.jsonl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Expand from templates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grammar + slots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Bootstrap with self-instruct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Unsloth teacher model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Augment real examples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controlled perturbation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Prove the distributions match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scipy KS 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Generate synthetic fine-tuning examples that preserve the statistical properties of real data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Generate Synthetic Training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synthetic_examples.jsonl contains several hundred de-duplicated examples produced by all three methods, the KS test p-value is reported, vocabulary overlap is between roughly 40% and 95%, and synthetic_distribution.png shows the two length histograms overlapping.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Ingest Datasets from Multiple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Implement a dataset ingestion solution that loads, streams and merges heterogeneous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Build the ingestion layer of a fine-tuning pipeline: load from CSV, JSONL and the Hugging Face Hub, stream a dataset too large for RAM, normalise every source to one schema, and concatenate them into a single training corpus with provenance retained.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single unified DatasetDict assembled from four differently-shaped sources, each row tagged with its provenance, plus a streaming ingestion demonstration that never loads the full dataset.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Hugging Face datasets, pandas, JSON Lines, streaming IterableDataset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merged corpus has exactly the four canonical columns, Counter(corpus['source']) shows rows from all three batch sources, the streaming demo prints three rows without a full download, and ingested_train.jsonl / ingested_test.jsonl are written.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4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a local CSV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datasets · CSV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a JSON Lines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datasets · JSONL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a Hub dataset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Hugging Face Hub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Stream a large corpus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streaming=True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Normalise and concatenate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concatenate_datasets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Implement a dataset ingestion solution that loads, streams and merges heterogeneous sources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Ingest Datasets from Multiple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merged corpus has exactly the four canonical columns, Counter(corpus['source']) shows rows from all three batch sources, the streaming demo prints three rows without a full download, and ingested_train.jsonl / ingested_test.jsonl are written.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HANDS-ON · IN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Transform Data into Chat and Instruction Formats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data transformation techniques that convert raw records into the model's training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Convert the ingested corpus into the exact text the model must see during training. You render the Alpaca template by hand, render the model's native chat template with apply_chat_template(), append the EOS token, and prove why a template mismatch silently ruins a fine-tune.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formatted training dataset whose 'text' column is exactly what the trainer will tokenise, verified against the model's own chat template and confirmed to terminate with the EOS token.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Hugging Face datasets, transformers tokenizer, Unsloth chat templates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formatted_train.jsonl exists with a 'text' column; printing one row shows the Llama 3 header tokens; the token-length percentile table is produced; and no remaining example exceeds MAX_LEN tokens.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5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the ingested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ingested_train.jsonl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Render the Alpaca template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instruction format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Render the native chat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apply_chat_template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Append the EOS token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tokenizer.eos_token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the two renderings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token ID inspection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data transformation techniques that convert raw records into the model's training format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Transform Data into Chat and Instruction Formats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formatted_train.jsonl exists with a 'text' column; printing one row shows the Llama 3 header tokens; the token-length percentile table is produced; and no remaining example exceeds MAX_LEN tokens.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Generative Architectures and Accelerator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GAN, diffusion and autoregressive architectures and select accelerator and cloud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a hands-on comparison of the three generative architecture families on the same small task, then measure the real memory and throughput cost of a fine-tune on the available accelerator so you can justify a hardware and cloud-platform choice with numbers rather than opinion.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comparison table of the three architecture families on generation quality, training stability and compute cost, plus measured throughput and VRAM figures for the lab GPU.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PyTorch, Unsloth, diffusers, matplotlib, nvidia-smi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architecture_comparison.csv and platform_comparison.csv are written, the autoregressive throughput is reported in tokens/second, the diffusion step-count timings show latency rising with steps, and peak VRAM is reported for both model types.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6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Time an autoregressive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Unsloth · Llama 3.2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Time a diffusion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diffusers · tiny-sd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Time a conditional GAN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PyTorch generator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peak VRAM each 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torch.cuda memory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the comparison 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architecture table CSV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Compare GAN, diffusion and autoregressive architectures and select accelerator and cloud platform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Compare Generative Architectures and Accelerator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architecture_comparison.csv and platform_comparison.csv are written, the autoregressive throughput is reported in tokens/second, the diffusion step-count timings show latency rising with steps, and peak VRAM is reported for both model types.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WHAT YOU CAN NOW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Prepare a reproducible GPU environment and verify the accelerator, VRAM and library stack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an immutable, versioned, reproducible data repository for a fine-tuning corpus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Generate synthetic fine-tuning examples that preserve the statistical properties of real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Implement a dataset ingestion solution that loads, streams and merges heterogeneous sources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data transformation techniques that convert raw records into the model's training format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Compare GAN, diffusion and autoregressive architectures and select accelerator and cloud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LU1 · 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Mistakes — Data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Training on the wrong template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single biggest cause of a fine-tune that trains cleanly and behaves badly. Always use tokenizer.apply_chat_template().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Forgetting the EOS token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model never learns where an answer ends and generates until it hits the token limit.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 unseeded split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unseeded train/test split cannot be reproduced, which silently invalidates every later comparison.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Synthetic data that is a paraphrase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If it merely restates the seed set it adds no coverage — de-duplicate against the real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provenance on merged sources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When quality drops you cannot tell which source caused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Ignoring the token-length distribution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Truncated examples teach the model to produce unfinished answers.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Exploratory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Cleaning and sanitisation · optimisation strategies for higher-quality outputs · feature engineering · ETL pipelines · analysis and visualisation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LU2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Develop optimized data pipelines for feature engineering using various optimization strategies.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Hands-on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 7 in class · Labs 8–12 self-paced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Weighting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25% of course time · Late morning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Sanitize and prepare data for modelling · Perform feature engineering for fine tuning · Analyze and visualize data for fine tuning insights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Exploratory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Garbage in, garbage out is literal for fine tuning: a 1,000-example clean dataset routinely beats a 100,000-example dirty one, because LoRA has few parameters and will faithfully learn whatever noise you show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Sanitisation removes PII, exact and near duplicates, truncated records, prompt-injection payloads and toxic content — each of which becomes a learned behaviour if left 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MinHash/LSH near-duplicate detection catches the paraphrased copies that exact hashing misses, and must also be run across the train/test boundary to prevent evaluation leakage.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Optimisation strategies for higher-quality outputs: curate for quality over quantity, balance the task mix, tune decoding parameters, apply preference optimisation (DPO), and iterate with error analysis rather than blindly adding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Exploratory Data Analysis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Decoding parameters — temperature, top-p, top-k, repetition penalty and max_new_tokens — change output quality at inference with zero training cost, and must be held fixed when comparing models.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Feature engineering for LLM fine tuning is prompt-side engineering: system-prompt design, few-shot exemplar selection, field concatenation order, length bucketing and difficulty tagging.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Feature selection here means example selection — perplexity filtering, embedding-diversity sampling and quality scoring keep the highest-signal subset of a large candidate pool.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 augmentation for generative models: paraphrase generation, back-translation, instruction rewriting, and response re-ranking expand a small seed set without new human labelling.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WEIGHTING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Exploratory Data Analysis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ETL pipeline for a fine-tuning dataset is Extract (load raw sources) → Transform (clean, dedupe, template, tokenise) → Load (push a versioned, split dataset), with a validation gate between each stage.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Generative concepts: transfer learning reuses pre-trained representations, knowledge distillation trains a small student from a large teacher, self-supervised learning creates labels from the data itself, and explainability makes the resulting behaviour inspectable.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Token-length analysis drives the `max_seq_length` choice: set it at roughly the 95th–99th percentile so you neither truncate real content nor pay quadratic attention cost for padding.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Visualising label balance, length distribution and embedding clusters (UMAP/t-SNE) exposes the gaps and redundancies in a dataset before you spend GPU hours on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DATA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Cleaning Is Subtraction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-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164" y="1783080"/>
            <a:ext cx="7248623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50% retention rate is normal. What matters is that every removed row is accounted for — an unexplained drop is a bug, not a cleaning success.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LU2 · THE SANITISATION GAUNTLET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Must Come Out of a Training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PII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Emails, phones, NRIC/FIN, card numbers — a fine-tuned model memorises and regurgitates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Exact duplicates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Implicit over-weighting: the model sees them more often and over-fits to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Near duplicates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Paraphrased copies survive exact hashing and leak evaluation data into training.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Truncated records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Teach the model to produce unfinished answers.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Prompt injection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poisoned example teaches the model to obey the injection — a supply-chain attack.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Encoding damage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Mojibake becomes learned garbage tokens.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LU2 · QUALITY OVER QUANTITY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thousand clean examples beat a hundred thousand dirty ones.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LoRA has very few parameters, so it learns whatever you show it with high fidelity — including the noise. Curation is not preparation for the real work; it IS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LU2 · PROMPT-SIDE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Feature Engineering for Fine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System prompt design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highest-leverage single feature: fixes role, tone and refusal behaviour across every example.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Few-shot exemplar selection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Attach the nearest neighbours as in-context examples to teach the format faster.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Field ordering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Instruction, then context, then input — a consistent order the model can rely 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Length bucketing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Group similar lengths into a batch to cut padding waste — free throughput.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Difficulty tagging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Control the curriculum mix, and diagnose which band the model fails 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Example selection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Perplexity filtering and embedding diversity keep the highest-signal subset.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PIPELINE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ETL Pipeline for a Fine-Tuning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load raw sources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clean · dedupe · template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Quality 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raise, don't ship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versioned + hashed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per-stage counts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MAKES IT A PIPELINE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quality gate. A script transforms data; a pipeline refuses to ship data that violates its declared contract.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Generative Concepts You Must Explain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Transfer learning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Pre-trained representations are reused; fine tuning adapts rather than teaching from scratch.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Knowledge distillation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large teacher supplies soft targets that transfer capability to a smaller student.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Self-supervised learning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Labels come from the data itself — next-token prediction created the base model.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Explainability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Making the resulting behaviour inspectable: attribution, probing, ablation.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LU2 · OPTIMISING WITHOUT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Decoding Parameters — Free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Parameter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1967377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783080"/>
            <a:ext cx="1967377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Low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783080"/>
            <a:ext cx="1967377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High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783080"/>
            <a:ext cx="1967377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Use it for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temperature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Rescales logits before sampling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Focused, repeatable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Creative, incoherent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Tone of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top_p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Samples from the top probability mass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Conservative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Full distribution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Adaptive diversity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Restricts to the k likeliest tokens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Very narrow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Little effect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Hard cap on candidates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398264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4398264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repetition_penalty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Penalises already-used tokens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9579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595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Loops appear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2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Unnatural phrasing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333" y="4398264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2349" y="4398264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Killing 4-gram loops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531266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" y="5312664"/>
            <a:ext cx="100584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1560" y="542239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Use GREEDY decoding for every evaluation so results are reproducible, and sampling only for user-facing text. Never compare two models under different decoders.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Exploratory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7–8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Clean and Sanitize a Fine-Tuning Dataset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Feature Engineering for Fine Tuning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9–10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an ETL Pipeline for Fine-Tuning Datasets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Analyse and Visualise a Fine-Tuning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11–12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Tune Decoding Parameters for Higher-Quality Output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Transfer Learning, Distillation and Self-Supervised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HANDS-ON · IN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 and Sanitize a Fine-Tuning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Clean, sanitize and prepare a raw corpus so the fine-tune learns signal rather than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Take a deliberately dirty corpus and run the full sanitisation gauntlet — PII redaction, exact and near-duplicate removal, truncation and encoding repair, prompt-injection screening and quality scoring — measuring how many rows each stage removes and why.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cleaned dataset plus a cleaning report that records, stage by stage, how many rows were removed and for what reason — the audit trail a data pipeline must produce.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pandas, regex, datasketch MinHash/LSH, ftfy, Hugging Face datasets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cleaned_corpus.jsonl exists, cleaning_report.json accounts for every removed row by stage, no email/phone/NRIC pattern survives a re-scan of the cleaned file, and retention_pct is reported.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7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the dirty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dirty_corpus.jsonl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Repair encoding damage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ftfy · NFKC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Redact every PII pattern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regex · email/phone/NRIC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Remove near duplicates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datasketch MinHash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Screen for prompt injection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injection patterns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Clean, sanitize and prepare a raw corpus so the fine-tune learns signal rather than noise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Clean and Sanitize a Fine-Tuning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cleaned_corpus.jsonl exists, cleaning_report.json accounts for every removed row by stage, no email/phone/NRIC pattern survives a re-scan of the cleaned file, and retention_pct is reported.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Feature Engineering for Fine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feature engineering, feature selection and data augmentation to a fine-tuning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Engineer the prompt-side features that decide fine-tuning quality: system-prompt design, few-shot exemplar selection, field ordering, length bucketing and difficulty tagging — then apply embedding-diversity feature selection and three augmentation strategies.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An engineered dataset carrying system prompts, difficulty tags and length buckets, reduced by diversity-based selection and expanded by augmentation, with before/after coverage metrics.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sentence-transformers, scikit-learn, pandas, numpy, Hugging Face datasets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engineered_corpus.jsonl contains the system, difficulty and bucket feature columns; the diversity score of the selected subset is higher than the random subset; and the padding-waste saving from bucketing is reported as a percentage.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8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Design the system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house style + refusals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Tag difficulty and length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bucketing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Embed every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sentence-transformers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a diverse subset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KMeans clustering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Augment the selected 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paraphrase + perturb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feature engineering, feature selection and data augmentation to a fine-tuning set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Feature Engineering for Fine Tuning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engineered_corpus.jsonl contains the system, difficulty and bucket feature columns; the diversity score of the selected subset is higher than the random subset; and the padding-waste saving from bucketing is reported as a percentage.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 ETL Pipeline for Fine-Tuning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Develop an extract-transform-load pipeline that produces a validated fine-tuning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Assemble the previous labs' work into one orchestrated, re-runnable ETL pipeline with validation gates between stages, structured logging, failure handling and an output contract — the form a data pipeline must take before it can run in production.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single run_pipeline.py that goes from raw sources to a versioned, validated, split dataset, with a quality gate that fails the run rather than shipping a bad dataset.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Hugging Face datasets, pandas, Python logging, JSON Schema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pipeline runs end to end, the quality gate passes on the clean data and raises ValueError on the deliberately poisoned copy, data_repo/v2/manifest.json records per-stage statistics and a hash per split, and the stage report shows retention at every stage.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9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Declare the output contract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schema + thresholds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Extract from every source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provenance tagging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Transform, clean and dedupe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staged pipeline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Enforce the quality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raises on violation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a versioned dataset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manifest + SHA-256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Develop an extract-transform-load pipeline that produces a validated fine-tuning dataset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 ETL Pipeline for Fine-Tuning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pipeline runs end to end, the quality gate passes on the clean data and raises ValueError on the deliberately poisoned copy, data_repo/v2/manifest.json records per-stage statistics and a hash per split, and the stage report shows retention at every stage.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Analyse and Visualise a Fine-Tuning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and visualise dataset properties to drive fine-tuning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Profile the prepared dataset before spending GPU hours on it: token-length distributions that set max_seq_length, task balance, vocabulary coverage, and a UMAP embedding map that exposes topic clusters and coverage gaps.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dataset profile report with five diagnostic plots and a written set of concrete recommendations (max_seq_length, rebalancing, gaps to fill) grounded in the measurements.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matplotlib, seaborn, UMAP, sentence-transformers, pandas, transformers tokenizer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profile_lengths.png, profile_balance.png and profile_umap.png are produced; the token-length percentile table yields a recommended max_seq_length; the eight clusters are each labelled with their top terms; and dataset_profile.json carries the numeric recommendations.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10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true token lengths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transformers tokenizer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the length percentiles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matplotlib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Check source and task 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pandas value_counts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 the corpus semantically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UMAP projection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the profile report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dataset_profile.json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Analyse and visualise dataset properties to drive fine-tuning decisions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Analyse and Visualise a Fine-Tuning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profile_lengths.png, profile_balance.png and profile_umap.png are produced; the token-length percentile table yields a recommended max_seq_length; the eight clusters are each labelled with their top terms; and dataset_profile.json carries the numeric recommendations.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Tune Decoding Parameters for Higher-Quality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optimisation strategies that raise output quality without retraining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Before spending money on training, extract the quality that is already available for free: sweep temperature, top-p, top-k and repetition penalty on a fixed prompt set, measure the effect on diversity and repetition, and lock in an evaluation-time decoding configuration.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decoding parameter sweep with measured diversity, repetition and length metrics, and a recommended generation_config.json used unchanged by every later evaluation lab.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Unsloth, transformers GenerationConfig, pandas, matplotlib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decoding_sweep.png shows all three parameter sweeps; the temperature table shows distinct-2 rising with temperature; the repetition-penalty table shows the repetition rate falling; and generation_config.json holds both the evaluation and production configurations.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11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Fix a held-out prompt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controlled experiment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Sweep the temperature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distinct-n metric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Sweep top-p sampling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nucleus sampling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Sweep repetition penalty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4-gram repetition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Lock the generation config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generation_config.json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optimisation strategies that raise output quality without retraining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Tune Decoding Parameters for Higher-Quality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decoding_sweep.png shows all three parameter sweeps; the temperature table shows distinct-2 rising with temperature; the repetition-penalty table shows the repetition rate falling; and generation_config.json holds both the evaluation and production configurations.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Transfer Learning, Distillation and Self-Supervised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and demonstrate the generative concepts that underpin fine 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Make the four foundational generative concepts concrete: measure what transfer learning already gives you, distil a large teacher into a small student, run a self-supervised masked objective, and inspect the model to show what 'explainability' means in practice.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short empirical demonstrations — a transfer-learning comparison, a distillation dataset with measured agreement, a self-supervised training loop, and a token-attribution plot.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PyTorch, Unsloth, transformers, matplotlib, numpy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domain text scores a clearly lower perplexity than the shuffled text; distilled_dataset.jsonl holds the teacher's generations; the softmax temperature sweep shows the distribution flattening; explainability_attribution.png is produced; and generative_concepts.json records all four.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12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transfer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perplexity comparison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Distil a teacher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soft targets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Inspect the soft distribution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softmax temperature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the self-supervised loss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next-token shift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Attribute the prediction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gradient x input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Explain and demonstrate the generative concepts that underpin fine tuning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Transfer Learning, Distillation and Self-Supervised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domain text scores a clearly lower perplexity than the shuffled text; distilled_dataset.jsonl holds the teacher's generations; the softmax temperature sweep shows the distribution flattening; explainability_attribution.png is produced; and generative_concepts.json records all four.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WHAT YOU CAN NOW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Exploratory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7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Clean, sanitize and prepare a raw corpus so the fine-tune learns signal rather than noise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8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feature engineering, feature selection and data augmentation to a fine-tuning set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9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Develop an extract-transform-load pipeline that produces a validated fine-tuning dataset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10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 and visualise dataset properties to drive fine-tuning decisions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optimisation strategies that raise output quality without retraining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Explain and demonstrate the generative concepts that underpin fine tuning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LU2 · 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Mistakes — Exploratory Data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Cleaning without a report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If you cannot account for every removed row, an unexplained drop is a bug you will never find.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Only removing exact duplicates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Near-duplicates survive exact hashing and leak evaluation examples into training.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Redacting PII after splitting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Redact BEFORE the split, or leaked values persist in one split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Adding data instead of fixing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More dirty examples make the problem worse, not better.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Comparing models under different decoders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temperature difference alone can flip which model looks better.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Setting max_seq_length by guesswork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Measure the 99th percentile — too short truncates, too long wastes quadratic attention cost.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Modelling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Framing the fine-tuning problem · multi-modal embeddings · LoRA and QLoRA · Unsloth · training and monitoring · hyperparameter optimisation · advanced loss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LU3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Fine-tune pre-trained multi-modal models using advanced loss metrics and training strategies.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Hands-on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Labs 15 and 17 in class · Labs 13, 14, 16 and 18–20 self-paced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Weighting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30% of course time · Afternoon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Frame business problems as fine-tuning problems · Select the appropriate model and adaptation method · Train and fine-tune models with LoRA, QLoRA and Unsloth · Perform hyperparameter optimization · Evaluate fine-tuned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WEIGHTING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Not every problem is a fine-tuning problem: prompt engineering fixes instruction-following, RAG fixes missing knowledge, and fine tuning fixes behaviour, format, tone and domain style. Choosing wrongly wastes the budget.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LoRA freezes the pre-trained weight matrix W and learns a low-rank update: h = Wx + (alpha/r)·BAx, where A is r x k, B is d x r, and only A and B are trained — typically under 1% of parameters.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 is initialised to zeros and A to a Kaiming/Gaussian draw, so BA = 0 at step 0 and the adapted model starts exactly equal to the base model — training is a strictly additive perturbation.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rank r sets adapter capacity (8-16 for style and format, 32-64 for genuinely new domain skills); lora_alpha sets the update strength through the alpha/r scaling factor.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WEIGHTING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Modelling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Rank-stabilised LoRA (use_rslora) scales by alpha/sqrt(r) instead of alpha/r, which keeps the update magnitude stable as the rank is raised.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target_modules decides where adaptation happens. Attention-only (q_proj, v_proj) is cheapest but underfits; the Databricks study showed that targeting ALL linear layers — attention plus the MLP gate_proj, up_proj and down_proj — is what produces high-quality output.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QLoRA adds 4-bit NF4 quantisation of the frozen base weights, double quantisation and paged optimisers, cutting VRAM roughly 3-4x again so a 7B-8B model fine-tunes on a single 16GB GPU.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QLoRA computes in bf16/fp16 while storing in 4-bit: the frozen weights are dequantised on the fly for each matmul, so quality stays close to 16-bit LoRA while memory falls dramatically.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WEIGHTING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Modelling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Unsloth rewrites the attention, MLP and cross-entropy kernels in Triton and hand-derives the backward pass, delivering roughly 2x faster training with about 70-80% less VRAM and no loss of accuracy versus a standard PEFT + Transformers loop.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Multi-modal embeddings place text, image and audio into one shared vector space through a contrastive objective (CLIP-style), so a text query can retrieve or condition on an image.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multi-modal model joins a vision encoder to a language model through a projector; fine tuning usually freezes the vision tower and adapts the projector and the LLM with LoRA.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Advanced loss functions and metrics: cross-entropy and perplexity for language modelling, FID and Inception Score for images, CLIPScore for text-image alignment, BLEU/ROUGE/BERTScore for text similarity, and adversarial/contrastive/diffusion losses for their respective architectures.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WEIGHTING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Modelling (4)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Monitoring stability and convergence: a healthy run shows training loss falling smoothly, validation loss tracking it, gradient norm bounded and learning rate following its schedule.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Divergence signatures: a loss spike to NaN means the learning rate is too high or fp16 overflowed; validation loss rising while training loss falls is overfitting; a flat loss means the learning rate is too low, the adapter is not attached, or labels are masked 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Hyperparameter optimisation has a clear priority order: learning rate first (1e-4 to 2e-4 for LoRA — roughly 10x a full fine-tune), then epochs (1-3), then r and alpha, then batch size via gradient accumulation.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Effective batch size = per_device_batch_size x gradient_accumulation_steps x num_devices; accumulation buys a large effective batch on small VRAM at the cost of wall-clock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WEIGHTING 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Modelling (5)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Intermediate fine tuning adapts the base model on a large related corpus BEFORE the small task set; continuous pre-training keeps the self-supervised objective on new raw domain text to add knowledge rather than behaviour.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87368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4178808"/>
            <a:ext cx="9427464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Merging (`merge_and_unload`) folds BA back into W, giving a standalone model with exactly zero added inference latency; keeping adapters separate instead lets one base model serve many tasks.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THE TRAINING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a LoRA Fine-Tune Actually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4-bit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frozen NF4 weights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Attach adapters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 and B per layer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Wx + (α/r)BAx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Backward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gradients to A,B only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Step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optimiser updates A,B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WHY IT IS CHEAP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optimiser state — usually the biggest memory consumer — exists only for the adapter, not for the billions of frozen base parameters.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STABILITY AND CONVERGENCE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Reading a Training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ss-curve-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61137"/>
            <a:ext cx="10634472" cy="27300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Four signatures you must be able to name on sight. Diagnosis comes before any change to the configuration.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LU3 · 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Training Failure Modes and Their Fixes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Symptom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3934755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Likely cause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76957" y="1783080"/>
            <a:ext cx="3934755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4973" y="1783080"/>
            <a:ext cx="3678723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The 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Loss → NaN or Inf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2202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0218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LR too high, or fp16 overflow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76957" y="2258568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4973" y="225856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Lower LR 10×, use bf16, clip grad to 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Loss spikes then recovers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2202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70218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Bad batch or LR slightly 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7" y="2741676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3" y="2741676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Clip gradients, add warmup steps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Loss completely flat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42202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70218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LR too low / adapter not attached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76957" y="3224784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04973" y="3224784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Raise LR; check print_trainable_parameters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Val loss rises, train falls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42202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70218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Overfitting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76957" y="3707892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04973" y="3707892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Fewer epochs, early stopping, more data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Gradient norm &gt; 10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Unstable updates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76957" y="4191000"/>
            <a:ext cx="3934755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04973" y="4191000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max_grad_norm = 1.0, lower the LR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42202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70218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Batch or sequence too large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76957" y="4674108"/>
            <a:ext cx="3934755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04973" y="4674108"/>
            <a:ext cx="3678723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Lower batch, raise grad accumulation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Diagnose from the CURVE, not from the final number. A single loss value cannot distinguish overfitting from healthy convergence.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TUNE IN THIS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Hyperparameter Priority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 · Learning rate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By far the most sensitive. 1e-4 to 2e-4 for LoRA — roughly 10× a full fine-tune.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 · Epochs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1–3 for most datasets. More epochs on a small set buys overfitting, not quality.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3 · Rank r and alpha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 = 8–16 for style; 32–64 for new skills. alpha = 2r is a sound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 · target_modules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 linear layers. This is a quality decision more than a cost decision.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5 · Effective batch size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batch × grad_accum × devices. Accumulation buys a large batch on small VRAM.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 · Everything else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Warmup, weight decay, scheduler — these rarely decide the outcome.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Training Configuration, Line by 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10634472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These are the settings you will tune in the labs — know why each value is what it 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5943600" cy="37947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395728"/>
            <a:ext cx="554126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args = SFTConfig(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per_device_train_batch_size = 2,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gradient_accumulation_steps = 4,   # eff. batch 8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num_train_epochs            = 2,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learning_rate               = 2e-4,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warmup_steps                = 5,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optim             = 'adamw_8bit',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lr_scheduler_type = 'linear',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weight_decay      = 0.01,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max_grad_norm     = 1.0,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bf16 = is_bfloat16_supported(),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D4D4D4"/>
                </a:solidFill>
                <a:latin typeface="Consolas"/>
              </a:rPr>
              <a:t>    seed = 3407,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9CDCFE"/>
                </a:solidFill>
                <a:latin typeface="Consolas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5160" y="228600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95160" y="2286000"/>
            <a:ext cx="82296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2904" y="237744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2e-4 learning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2904" y="267004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~10× a full fine-tune, because the adapter is small and starts from zero.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324612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95160" y="3246120"/>
            <a:ext cx="82296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333756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Effective batch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363016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batch 2 × accumulation 4. Accumulation trades wall-clock time for VRAM.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420624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95160" y="4206240"/>
            <a:ext cx="82296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429768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adamw_8bit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2904" y="459028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Quantised optimiser state — a large memory saving for no measurable quality cost.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95160" y="5166360"/>
            <a:ext cx="441655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95160" y="5166360"/>
            <a:ext cx="82296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5257800"/>
            <a:ext cx="40050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max_grad_norm 1.0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32904" y="5550408"/>
            <a:ext cx="400507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Gradient clipping: the single most effective guard against divergence.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ONE SHARED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Multi-Modal Embeddings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ultimodal-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483" y="1783080"/>
            <a:ext cx="8695985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 contrastive objective places text and images in one vector space, so a text query can retrieve an image and CLIPScore can grade alignment.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ADVANCED LOSS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Which Metric for Which Generative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1967377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783080"/>
            <a:ext cx="1967377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783080"/>
            <a:ext cx="1967377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Direction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783080"/>
            <a:ext cx="1967377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The catch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58568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25856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Language modelling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258568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258568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Cross-entropy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258568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258568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Perplexity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258568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258568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258568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258568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Blind to factual accuracy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741676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741676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Translation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741676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741676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Cross-entropy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741676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741676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BLEU / chrF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741676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741676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741676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741676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Punishes valid paraphrase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224784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224784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Summarisation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224784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224784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Cross-entropy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224784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224784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ROUGE-1/2/L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224784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224784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224784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224784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Recall-biased; rewards copying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3707892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5256" y="3707892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Open-ended text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42202" y="3707892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70218" y="3707892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Cross-entropy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09579" y="3707892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37595" y="3707892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BERTScore + LLM judge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6956" y="3707892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04972" y="3707892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44333" y="3707892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72349" y="3707892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Judge needs human validation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7240" y="4191000"/>
            <a:ext cx="2764962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5256" y="4191000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Image generation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42202" y="4191000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70218" y="4191000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Diffusion MSE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09579" y="4191000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37595" y="4191000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476956" y="4191000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04972" y="4191000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lower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44333" y="4191000"/>
            <a:ext cx="1967377" cy="483108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72349" y="4191000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Needs thousands of samples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" y="4674108"/>
            <a:ext cx="2764962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5256" y="4674108"/>
            <a:ext cx="2508930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Text-to-image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42202" y="4674108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70218" y="4674108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Diffusion MSE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09579" y="4674108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37595" y="4674108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CLIPScore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476956" y="4674108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04972" y="4674108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higher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44333" y="4674108"/>
            <a:ext cx="1967377" cy="483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72349" y="4674108"/>
            <a:ext cx="1711345" cy="4831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Alignment, not image quality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7240" y="5358384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77240" y="5358384"/>
            <a:ext cx="100584" cy="8412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51560" y="5468112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Using an invalid metric for the task is the most common evaluation error. Perplexity in particular can rate a fluent-but-wrong answer above a correct one.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LOSS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Objectives Behind the Three Architectures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Cross-entropy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Autoregressive models. Maximise the likelihood of the next token. Stable, well understood.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Adversarial loss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GANs. Generator and discriminator play a minimax game — powerful but hard to balance.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Diffusion MSE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Diffusion models. Predict the noise that was added. One simple loss, hence very stable.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InfoNCE contrastive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CLIP-style multi-modal models. Pull matched pairs together, push others apart.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ADAPTATION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Intermediate Fine Tuning vs Continuous Pre-Training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2764962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783080"/>
            <a:ext cx="250893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2202" y="1783080"/>
            <a:ext cx="1967377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0218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Objective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9579" y="1783080"/>
            <a:ext cx="1967377" cy="47548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37595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76956" y="1783080"/>
            <a:ext cx="1967377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04972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What it adds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44333" y="1783080"/>
            <a:ext cx="1967377" cy="475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72349" y="1783080"/>
            <a:ext cx="1711345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Use when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258568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258568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Task fine tuning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42202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0218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Supervised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09579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37595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Small labelled set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76956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4972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Behaviour, format, style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4333" y="2258568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72349" y="2258568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You have target examples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2971800"/>
            <a:ext cx="276496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2971800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Intermediate fine tuning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42202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0218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Supervised ×2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9579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37595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Large related, then task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76956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4972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Domain competence first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44333" y="2971800"/>
            <a:ext cx="1967377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72349" y="2971800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Task data is scarce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685032"/>
            <a:ext cx="2764962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3685032"/>
            <a:ext cx="250893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161B26"/>
                </a:solidFill>
                <a:latin typeface="Arial"/>
              </a:rPr>
              <a:t>Continuous pre-training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42202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70218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Self-supervised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09579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7595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Large RAW domain text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76956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4972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Domain knowledge, vocabulary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44333" y="3685032"/>
            <a:ext cx="1967377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72349" y="3685032"/>
            <a:ext cx="1711345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domain language is unfamiliar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4599432"/>
            <a:ext cx="10634472" cy="8412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4599432"/>
            <a:ext cx="100584" cy="8412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4709160"/>
            <a:ext cx="10085832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WHEN IT MATTERS  </a:t>
            </a:r>
            <a:r>
              <a:rPr sz="1200" b="0">
                <a:solidFill>
                  <a:srgbClr val="161B26"/>
                </a:solidFill>
                <a:latin typeface="Arial"/>
              </a:rPr>
              <a:t>The recommended sequence when all three are available: continuous pre-training, then intermediate fine tuning, then task fine tuning on the small target set.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Modelling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13–15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Frame the Problem and Select the Adaptation Method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Build LoRA from First Principles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Fine-Tune with PEFT LoRA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16–18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Fine-Tune with QLoRA in 4-Bit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Accelerate Fine Tuning with Unsloth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Monitor Training Stability and Convergence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19–20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Hyperparameter Optimization for LoRA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Advanced Loss Functions and Generative Metrics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Frame the Problem and Select the Adaptation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Frame a business problem as a fine-tuning problem and justify the adaptation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Before touching a GPU, decide whether the problem needs prompt engineering, RAG or fine tuning. You test all three on the same business case, measure the result, and produce a written justification — including the multi-modal embedding case where the input is not text alone.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decision record that tests prompting, RAG and fine tuning on one problem with measured results, plus a multi-modal embedding demonstration showing when a shared vector space is needed.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Unsloth, sentence-transformers, CLIP, scikit-learn, pandas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All three options produce output on the same ticket, the option comparison table is printed, CLIP scores the correct caption highest, and adaptation_decision.json records the chosen method with an explicit justification against the stated constraints.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13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State the business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problem statement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prompt engineering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Unsloth inference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retrieval (RAG)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sentence-transformers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against constraints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option scoring table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Embed text and image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open_clip · CLIP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Frame a business problem as a fine-tuning problem and justify the adaptation method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Frame the Problem and Select the Adaptation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 three options produce output on the same ticket, the option comparison table is printed, CLIP scores the correct caption highest, and adaptation_decision.json records the chosen method with an explicit justification against the stated constraints.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LoRA from First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Implement the LoRA low-rank decomposition and verify its parameter and memory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Implement LoRA yourself in about thirty lines of PyTorch — the low-rank update h = Wx + (alpha/r)BAx — then prove the three properties that make it work: zero-initialised B means an identity start, the parameter count collapses with r, and the merged weight is mathematically identical to the adapted forward pass.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working LoRALinear layer, a parameter-count table across ranks, and a numerical proof that merging BA into W reproduces the adapted output exactly.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PyTorch, numpy, matplotlib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identity-at-init assertion passes (difference &lt; 1e-6), the parameter table shows LoRA at well under 5% of full parameters for r&lt;=16, the merge assertion passes (error &lt; 1e-4), and lora_param_scaling.png is produced.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14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Start from a plain linear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PyTorch nn.Linear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Implement the LoRA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A, B and alpha/r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Prove it starts as a no-op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 initialised to zero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Count the parameter collapse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r(d_in+d_out)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Prove merging is exact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W + (alpha/r)BA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Implement the LoRA low-rank decomposition and verify its parameter and memory savings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LoRA from First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identity-at-init assertion passes (difference &lt; 1e-6), the parameter table shows LoRA at well under 5% of full parameters for r&lt;=16, the merge assertion passes (error &lt; 1e-4), and lora_param_scaling.png is produced.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HANDS-ON · IN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Fine-Tune with PEFT LoRA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Fine-tune a pre-trained model with the PEFT LoRA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a real LoRA fine-tune with the Hugging Face PEFT library on the dataset built in LU1 and LU2: configure LoraConfig, inspect the trainable parameter count, train with SFTTrainer, and compare the base and adapted model on held-out prompts.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trained LoRA adapter of a few tens of megabytes, a training-loss curve, and a side-by-side before/after comparison on held-out prompts.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Hugging Face PEFT, transformers, TRL SFTTrainer, bitsandbytes, datasets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print_trainable_parameters() reports under 1% trainable, the training loss falls from its starting value, peft_loss_curve.png shows a descending curve, the after-generation differs visibly from the before, and lora_adapter/ is only tens of megabytes.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15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the base model in 4-bit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BitsAndBytesConfig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the module names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named_modules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Configure LoRA on all layers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peft LoraConfig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Confirm the trainable fraction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under 1%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Train and compare before/after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TRL SFTTrainer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Fine-tune a pre-trained model with the PEFT LoRA implementation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Fine-Tune with PEFT LoRA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print_trainable_parameters() reports under 1% trainable, the training loss falls from its starting value, peft_loss_curve.png shows a descending curve, the after-generation differs visibly from the before, and lora_adapter/ is only tens of megabytes.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Fine-Tune with QLoRA in 4-Bit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QLoRA 4-bit quantisation and measure the memory saving against LoRA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Quantify what QLoRA actually buys. You measure the VRAM of the same model at 16-bit, 8-bit and 4-bit NF4, inspect the effect of double quantisation and paged optimisers, fine-tune in 4-bit, and compare the resulting quality against the 16-bit LoRA run.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memory-comparison table across three precisions with measured VRAM, a QLoRA fine-tune that fits in a free Colab session, and a quality comparison against the LoRA baseline.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bitsandbytes, PEFT, transformers, TRL, torch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quantisation_memory.csv shows 4-bit using substantially less VRAM than 16-bit, the parameter dump shows Params4bit storage with a bf16 adapter, the QLoRA training completes with peak VRAM reported, and qlora_adapter/ is saved.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16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the model at 16-bit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bf16 baseline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8-bit and 4-bit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bitsandbytes NF4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Add double quantisation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further VRAM saving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Attach the adapter on 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bf16 adapter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Train with a paged optimiser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paged_adamw_8bit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QLoRA 4-bit quantisation and measure the memory saving against LoRA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Fine-Tune with QLoRA in 4-Bit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quantisation_memory.csv shows 4-bit using substantially less VRAM than 16-bit, the parameter dump shows Params4bit storage with a bf16 adapter, the QLoRA training completes with peak VRAM reported, and qlora_adapter/ is saved.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HANDS-ON · IN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Accelerate Fine Tuning with Unsloth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Unsloth to fine-tune faster and with less memory, and verify the speed-up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the same fine-tune through Unsloth's optimised kernels and measure the difference against the plain PEFT run: training time, peak VRAM and final loss. You then use the Unsloth chat templates and response-only training that the standard loop makes awkward.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benchmark table comparing Unsloth against standard PEFT on time, memory and loss, plus a trained adapter produced by the Unsloth pipeline.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Unsloth FastLanguageModel, TRL SFTTrainer, Triton kernels, datasets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training completes and reports runtime, peak reserved VRAM and the memory used for training; the response-only masking reports a non-zero count of masked prompt tokens; unsloth_benchmark.csv compares Unsloth against the PEFT run; and unsloth_adapter/ is saved.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17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through Unsloth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FastLanguageModel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Attach LoRA the Unsloth 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get_peft_model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the chat template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get_chat_template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Train on the response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prompt tokens masked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Benchmark against plain PEFT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unsloth_benchmark.csv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 Unsloth to fine-tune faster and with less memory, and verify the speed-up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Accelerate Fine Tuning with Unsloth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training completes and reports runtime, peak reserved VRAM and the memory used for training; the response-only masking reports a non-zero count of masked prompt tokens; unsloth_benchmark.csv compares Unsloth against the PEFT run; and unsloth_adapter/ is saved.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 Training Stability and Convergence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Monitor a generative training run for stability and convergence, and correct failures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Learn to read a training run. You instrument loss, gradient norm, learning rate and VRAM with a custom callback, then deliberately induce the three classic failures — divergence, overfitting and a stalled run — recognise each signature and apply the correct fix.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monitoring callback producing a four-panel diagnostic dashboard, plus three reproduced failure modes each with its identified signature and applied correction.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TRL SFTTrainer, transformers TrainerCallback, matplotlib, torch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monitor_healthy.png, monitor_diverged.png, monitor_overfit.png and monitor_stalled.png are all produced; diagnose() correctly labels the healthy run HEALTHY and each broken run with its specific failure; and training_troubleshooting.csv maps every symptom to a fix.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18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Instrument the training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TrainerCallback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Establish a healthy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loss + grad norm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Induce divergence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learning rate too high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Induce overfitting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too many epochs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Map each symptom to a fix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troubleshooting table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Monitor a generative training run for stability and convergence, and correct failures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Monitor Training Stability and Convergence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monitor_healthy.png, monitor_diverged.png, monitor_overfit.png and monitor_stalled.png are all produced; diagnose() correctly labels the healthy run HEALTHY and each broken run with its specific failure; and training_troubleshooting.csv maps every symptom to a fix.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Hyperparameter Optimization for LoRA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Perform hyperparameter optimization and select a configuration on measured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a systematic hyperparameter search in the correct priority order — learning rate, then rank and alpha, then target modules, then epochs and effective batch size — measuring validation loss for each configuration and selecting the winner on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hyperparameter sweep table with validation loss per configuration, sensitivity plots, and a selected configuration saved as best_hyperparameters.json.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Unsloth, TRL SFTTrainer, pandas, matplotlib, numpy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hpo_sweep.csv records every trial with its validation loss; hpo_sensitivity.png shows all four sensitivity curves; the target-module comparison shows 'all' beating 'attn_only'; and best_hyperparameters.json holds the selected configuration.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19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a repeatable trial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one config per run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Sweep the learning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most sensitive first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Sweep the rank 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capacity vs cost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Sweep the target modules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attention vs all linear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Save the winning config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best_hyperparameters.json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Perform hyperparameter optimization and select a configuration on measured evidence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Hyperparameter Optimization for LoRA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hpo_sweep.csv records every trial with its validation loss; hpo_sensitivity.png shows all four sensitivity curves; the target-module comparison shows 'all' beating 'attn_only'; and best_hyperparameters.json holds the selected configuration.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Advanced Loss Functions and Generative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advanced loss functions and metrics for evaluating generative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Implement and interpret the loss functions and metrics that generative models are actually judged on: cross-entropy and perplexity, BLEU/ROUGE/BERTScore for text, FID and Inception Score for images, CLIPScore for text-image alignment, and the contrastive and diffusion objectives.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metric toolkit with each measure implemented and demonstrated on real outputs, plus a selection guide mapping each generative task to the metrics that are valid for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PyTorch, Hugging Face evaluate, torchmetrics, CLIP, scipy, numpy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Perplexity is lower for well-formed than for shuffled text; BERTScore rates the paraphrase higher than BLEU does; FID is lower for the near-real images than the unrelated ones; CLIPScore is higher for the correct caption; and metric_selection_guide.csv is written.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20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Measure cross-entropy and PPL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language modelling loss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 BLEU and ROUGE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evaluate library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 BERTScore semantics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recognises paraphrase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FID for images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torchmetrics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 text-image alignment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CLIPScore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advanced loss functions and metrics for evaluating generative performance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Advanced Loss Functions and Generative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Perplexity is lower for well-formed than for shuffled text; BERTScore rates the paraphrase higher than BLEU does; FID is lower for the near-real images than the unrelated ones; CLIPScore is higher for the correct caption; and metric_selection_guide.csv is written.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WHAT YOU CAN NOW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Modelling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Frame a business problem as a fine-tuning problem and justify the adaptation method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Implement the LoRA low-rank decomposition and verify its parameter and memory savings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Fine-tune a pre-trained model with the PEFT LoRA implementation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QLoRA 4-bit quantisation and measure the memory saving against LoRA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17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Unsloth to fine-tune faster and with less memory, and verify the speed-up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18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Monitor a generative training run for stability and convergence, and correct failures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LU3 · 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Common Mistakes — Modelling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Targeting attention only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q_proj and v_proj alone underfit badly. Include the MLP gate/up/down projections.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Copying a learning rate from a blog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2e-4 suits LoRA on a small set; the right value depends on your data and rank.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Too many epochs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 a small dataset this buys overfitting, not quality. Watch the validation curve.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Reading one loss number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single value cannot distinguish healthy convergence from overfitting — read the curve.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Raising rank to fix quality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Validation loss usually saturates by r=16. If quality is poor, look at the DATA first.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 validation split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Without one, overfitting is invisible until the model reaches production.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Machine Learning Implementation and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Benchmarking against state of the art · explainability and interpretability · bias and fairness · continuous pre-training pipelines ·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LU4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ML solutions for bias, explainability, and alignment with performance benchmarks.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Hands-on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Lab 21 in class · Labs 22–26 self-paced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Weighting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20% of course time · Late afternoon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and benchmark generative solutions against state of the art · Recommend and implement bias mitigation and fairness interventions · Apply interpretability and explainability methods · Deploy and operationalize fine-tuned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WEIGHTING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Machine Learning Implementation and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Benchmarking against state of the art needs a held-out set the model has never seen, a fixed decoding configuration, the same prompt template for every system, and more than one metric.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Standard public benchmarks — MMLU for knowledge, GSM8K for reasoning, HumanEval for code, HELM and the Open LLM Leaderboard for breadth — provide comparison points, but a domain-specific held-out set is what actually predicts production performance.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LLM-as-a-judge scores open-ended generation on correctness, helpfulness and format at a fraction of human cost, but must be validated against human labels and controlled for position bias.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Always benchmark against the base model, not only against the previous fine-tune — a fine-tune that beats its predecessor but loses to the base model is a regression.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WEIGHTING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Machine Learning Implementation and Operations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Catastrophic forgetting is measured, not assumed: re-run a general benchmark after fine tuning to confirm the model has not lost its original capability.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Interpretability and explainability for generative models: attention visualisation, integrated gradients and SHAP for token attribution, probing classifiers for what a layer encodes, and chain-of-thought as a (partial) behavioural explanation.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Attention weights show where the model looked, not why it decided — treat attention maps as a hypothesis-generating tool, not a causal proof.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Sources of bias in generative models: the pre-training corpus, the fine-tuning set, annotator judgement, the objective function itself, and deployment feedback loops that amplify whatever the model already prefers.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WEIGHTING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Machine Learning Implementation and Operations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Fairness-enhancing interventions act at three stages — pre-processing (rebalance and augment the data), in-processing (counterfactual data augmentation, fairness-regularised or preference objectives), and post-processing (output filters, safety classifiers, guardrails).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Counterfactual evaluation swaps demographic attributes in an otherwise identical prompt and measures the change in the output — a large change is direct evidence of bias.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Continuous pre-training pipelines resume from an existing checkpoint on new raw domain text, with a low learning rate, a replay mixture of the original data and regular general-benchmark checks to guard against forgetting.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Checkpoint hygiene makes a pipeline restartable: save optimizer and scheduler state alongside weights, version every checkpoint against its dataset revision, and validate each cycle before promoting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WEIGHTING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Machine Learning Implementation and Operations (4)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Deployment: merge to 16-bit for a GPU server (vLLM), export GGUF q4_k_m for CPU/local serving (llama.cpp, Ollama), or keep the adapter separate and hot-swap it per tenant.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87368"/>
            <a:ext cx="10634472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4178808"/>
            <a:ext cx="9427464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 cards and dataset cards document intended use, training data, evaluation results and known limitations — they are the governance artifact that makes a fine-tune auditable.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SIX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Benchmarking That Means Something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held-out set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the model has NEVER seen. Benchmarking on training data flatters and misleads.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fixed decoder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Same temperature, top-p and max tokens for every system compared.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same prompt template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template difference alone can move a score by several points.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More than one metric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Every metric is blind to a different failure.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BASE model as control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fine-tune that loses to its own base model is a regression.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 forgetting check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Re-run a general benchmark — measure what the fine-tune cost you elsewhere.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LU4 · THE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Always benchmark against the base model, not only the previous fine-tune.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model that beats its predecessor but loses to the untouched base model is a regression that a leaderboard of your own runs will never reveal.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LU4 · EXPLAINABILITY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Interpretability Methods and Their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Attention visualisation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Shows where each head LOOKED. Correlational — a high weight is not proof of influence.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Integrated gradients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Causal attribution to input tokens. Depends on the baseline; expensive on long 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Probing classifiers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Finds WHERE a property becomes decodable. Decodable does not mean the model uses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Behavioural ablation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Remove a token, measure the change. Ignores interactions between tokens.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Chain of thought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stated reason — but not necessarily the actual computation.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Model cards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governance artifact: intended use, data, evaluation and known limitations.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LU4 · THE LIMIT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Attention shows where the model looked. It does not show why it decided.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Use at least two methods before making a claim to a regulator. An explanation supported only by an attention map is not defensible.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LU4 · WHERE BIAS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Five Sources of Bias in Generative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Pre-training corpus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Web-scale text carries historical and demographic skew into every downstream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Fine-tuning dataset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Whatever you chose to include — and whatever you failed to include.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Annotator judgement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wrote the reference answers, and what did they consider a good answer?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Objective function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Maximum likelihood optimises for the majority pattern, not for fairness.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Deployment feedback loop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model's own outputs become tomorrow's training data, amplifying its preferences.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THREE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You Can Intervene on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ias-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208" y="1783080"/>
            <a:ext cx="9478536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Counterfactual testing before and after every intervention is what turns a claim into a mitigation.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Continuous Pre-Training 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New domain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arrives weekly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Mix in replay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~15% general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Resume checkpoint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optimiser state too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domain AND general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F6FE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Accept or reject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promote only if safe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WHAT MAKES IT RESTARTABLE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Saving optimiser and scheduler state alongside the weights, and versioning every checkpoint against its dataset revision.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One Adapter, Four Ways to Ship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eployment-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94" y="1783080"/>
            <a:ext cx="9871363" cy="38862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576072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76072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5760720"/>
            <a:ext cx="101498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Merging gives the fastest single model. NOT merging lets one base in VRAM serve twenty task adapters — the multi-tenant win.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Hands-On Labs — Machine Learning Implementation and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21–22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Benchmark the Fine-Tuned Model Against State of the Art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Detect and Mitigate Bias in Generative Outputs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23–24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Interpretability and Explainability for Generative Models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Intermediate Fine Tuning and Continuous Pre-Training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Labs 25–26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Merge, Export and Deploy the Fine-Tuned Model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Capstone — End-to-End Fine-Tuning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HANDS-ON · IN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Benchmark the Fine-Tuned Model Against State of the 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Analyse a fine-tuned model against state-of-the-art benchmarks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Run a rigorous benchmark: base model versus fine-tuned model versus a reference model on a held-out set with a fixed decoding configuration, using several metrics plus an LLM judge, and check explicitly for catastrophic forgetting on a general benchmark.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benchmark report comparing three systems on four metrics with a catastrophic-forgetting check, and a recommendation grounded in the measured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Unsloth, PEFT, Hugging Face evaluate, pandas, matplotlib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benchmark_report.json compares base and fine-tuned on ROUGE, BLEU, BERTScore and perplexity under one fixed decoding config; the catastrophic-forgetting check reports a percentage change on general text; and benchmark_comparison.png is produced.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21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the held-out test 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never-seen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from the base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fixed decoder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from the fine-tune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same decoder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 on several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ROUGE · BLEU · BERTScore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for forgetting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general-task perplexity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Analyse a fine-tuned model against state-of-the-art benchmarks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Benchmark the Fine-Tuned Model Against State of the 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benchmark_report.json compares base and fine-tuned on ROUGE, BLEU, BERTScore and perplexity under one fixed decoding config; the catastrophic-forgetting check reports a percentage change on general text; and benchmark_comparison.png is produced.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and Mitigate Bias in Generative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Identify sources of bias and implement fairness-enhancing interventions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Audit a fine-tuned model for demographic bias with counterfactual testing, trace the bias back to its source in the training data, then implement and measure interventions at all three stages — pre-processing, in-processing and post-processing.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counterfactual bias audit with measured disparity before and after intervention, a data-side rebalancing, an output guardrail, and a fairness report.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Unsloth, sentence-transformers, pandas, scipy, matplotlib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counterfactual audit reports an agentic-language gap and a length t-test p-value before mitigation; debiased_train.jsonl is larger than the original; the guardrail blocks the biased probe and passes the neutral one; bias_mitigation.png and fairness_report.json are produced.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22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counterfactual prompts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demographics swapped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Generate for every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fixed decoder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the disparity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agentic language · t-test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Augment the training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counterfactual pairs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Re-measure after mitigation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fairness_report.json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sources of bias and implement fairness-enhancing interventions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Detect and Mitigate Bias in Generative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counterfactual audit reports an agentic-language gap and a length t-test p-value before mitigation; debiased_train.jsonl is larger than the original; the guardrail blocks the biased probe and passes the neutral one; bias_mitigation.png and fairness_report.json are produced.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Interpretability and Explainability for Generative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Apply interpretability and explainability methods to a generative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Open the model up with four complementary methods — attention visualisation, gradient-based token attribution, a layer probing classifier and behavioural ablation — and understand what each one can and cannot tell a regulator.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Four working explainability analyses with plots, plus a written note on the limits of each method — the kind of evidence a compliance officer actually asks for.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PyTorch, transformers, matplotlib, seaborn, scikit-learn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explain_attention.png, explain_attention_vs_ig.png and explain_probing.png are produced; the attention-vs-IG correlation is reported; the probing curve identifies a peak layer above chance; the ablation table ranks the tokens; and explainability_note.json records each method's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23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Capture the attention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output_attentions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Attribute with gradients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integrated gradients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Probe each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logistic probe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Ablate input tokens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behavioural test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 each method's limits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explainability_note.json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Apply interpretability and explainability methods to a generative model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Interpretability and Explainability for Generative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explain_attention.png, explain_attention_vs_ig.png and explain_probing.png are produced; the attention-vs-IG correlation is reported; the probing curve identifies a peak layer above chance; the ablation table ranks the tokens; and explainability_note.json records each method's limits.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Intermediate Fine Tuning and Continuous Pre-Training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Build a training pipeline that continues pre-training from an existing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Distinguish the three adaptation strategies in practice: direct task fine tuning, intermediate fine tuning on a related corpus first, and continuous pre-training on raw domain text. You build a restartable continuous pre-training pipeline with replay data and forgetting checks.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checkpoint-resumable continuous pre-training pipeline with a replay mixture, per-cycle validation and a comparison of the three adaptation strategies on the same held-out 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Unsloth, TRL SFTTrainer, transformers, datasets, torch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cpt_cycle_log.json records baseline plus two cycles with domain and general perplexity for each; cycle 2 successfully resumes from a saved checkpoint; the replay ratio is reported; and the forgetting guard produces an accept/reject verdict.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24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the raw domain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unlabelled 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Mix in replay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~15% general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Adapt embeddings too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embed_tokens · lm_head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Train and validate the cycle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domain + general PPL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Resume from a checkpoint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optimizer state saved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Build a training pipeline that continues pre-training from an existing checkpoint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Intermediate Fine Tuning and Continuous Pre-Training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cpt_cycle_log.json records baseline plus two cycles with domain and general perplexity for each; cycle 2 successfully resumes from a saved checkpoint; the replay ratio is reported; and the forgetting guard produces an accept/reject verdict.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Merge, Export and Deploy the Fine-Tuned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Deploy and operationalize a fine-tuned model across serving targets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Take the adapter to production: merge it into the base weights, verify the merge changed nothing it should not, export to 16-bit and GGUF, benchmark merged versus adapter-only serving, and write the model card that makes the deployment auditable.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merged 16-bit model, a GGUF quantised export, a latency and memory comparison of the serving options, and a completed model card.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Unsloth, PEFT, llama.cpp GGUF, vLLM, Hugging Face Hub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merged_16bit/, merged_4bit/ and gguf_out/ all exist with a .gguf file present; the merged model produces output comparable to the adapter version; deployment_options.csv compares all four serving options by size; and MODEL_CARD.md is written with real measured numbers.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25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the trained adapter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unsloth_adapter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 into 16-bit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save_pretrained_merged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the merge is faithful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same output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Export GGUF for CPU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q4_k_m quantisation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Write the model card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MODEL_CARD.md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Deploy and operationalize a fine-tuned model across serving targets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Merge, Export and Deploy the Fine-Tuned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merged_16bit/, merged_4bit/ and gguf_out/ all exist with a .gguf file present; the merged model produces output comparable to the adapter version; deployment_options.csv compares all four serving options by size; and MODEL_CARD.md is written with real measured numbers.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HANDS-ON · SELF-PACED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 — End-to-End Fine-Tuning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5544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LAB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87168" y="1719072"/>
            <a:ext cx="88696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 a complete fine-tuning solution from data to deployment with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86000"/>
            <a:ext cx="1063447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Put the whole course together on a new domain: build the dataset, fine-tune with a justified configuration, benchmark against the base model, audit for bias, and deliver the model card and deployment artifacts as one reviewable package.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74720"/>
            <a:ext cx="3392424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 complete, reviewable fine-tuning project: versioned dataset, trained adapter, benchmark report, fairness audit, model card and deployment export.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8264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98264" y="3474720"/>
            <a:ext cx="3392424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TOOLCHAIN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full course stack — datasets, Unsloth, PEFT, TRL, evaluate, matplotlib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9288" y="3474720"/>
            <a:ext cx="3392424" cy="1874519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9288" y="3474720"/>
            <a:ext cx="3392424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3639312"/>
            <a:ext cx="298094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DONE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968496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capstone/PROJECT_REPORT.json records the dataset sizes, the justified method, the training metrics, the benchmark scores and the fairness spread; capstone/adapter/ and capstone/merged_16bit/ both exist; and the quality-gate assertion passed.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Lab 26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3604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3604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 the capstone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success criteria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80944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0944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07308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7308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and gate the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72384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ETL + quality gate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184648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84648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1012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1012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12664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and set the length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76088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token percentiles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059168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88352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14716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4716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Fine-tune with your config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best_hyperparameters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262872" y="3223260"/>
            <a:ext cx="274320" cy="0"/>
          </a:xfrm>
          <a:prstGeom prst="line">
            <a:avLst/>
          </a:prstGeom>
          <a:ln w="25400">
            <a:solidFill>
              <a:srgbClr val="10B9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592056" y="2148840"/>
            <a:ext cx="1819656" cy="2148840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587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92056" y="2148840"/>
            <a:ext cx="1819656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18420" y="2459736"/>
            <a:ext cx="566928" cy="5669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18420" y="24597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20072" y="3118104"/>
            <a:ext cx="156362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Benchmark, audit and ship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83496" y="3822192"/>
            <a:ext cx="1636776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report + model card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608576"/>
            <a:ext cx="10634472" cy="10515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608576"/>
            <a:ext cx="100584" cy="1051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4718304"/>
            <a:ext cx="10149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THE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9200"/>
            <a:ext cx="101498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Deliver a complete fine-tuning solution from data to deployment with governance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Capstone — End-to-End Fine-Tuning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96596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100584" cy="1965960"/>
          </a:xfrm>
          <a:prstGeom prst="rect">
            <a:avLst/>
          </a:prstGeom>
          <a:solidFill>
            <a:srgbClr val="127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1005840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27A3E"/>
                </a:solidFill>
                <a:latin typeface="Arial"/>
              </a:rPr>
              <a:t>✅  Expected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95728"/>
            <a:ext cx="1005840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capstone/PROJECT_REPORT.json records the dataset sizes, the justified method, the training metrics, the benchmark scores and the fairness spread; capstone/adapter/ and capstone/merged_16bit/ both exist; and the quality-gate assertion passed.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50208"/>
            <a:ext cx="10634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IF IT DOESN'T WORK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CUDA out of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Restart the runtime, lower per_device_train_batch_size, raise gradient_accumulation_steps.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8264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8264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No GPU attached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Runtime &gt; Change runtime type &gt; T4 GPU, then re-run from the first cell.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4297680"/>
            <a:ext cx="3392424" cy="15727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9288" y="4297680"/>
            <a:ext cx="3392424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453128"/>
            <a:ext cx="298094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61B26"/>
                </a:solidFill>
                <a:latin typeface="Arial"/>
              </a:rPr>
              <a:t>ModuleNotFoundError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38744" y="4809744"/>
            <a:ext cx="2980944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Re-run the pip install cell; on Colab, restart the session after installing unsloth.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WHAT YOU CAN NOW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Machine Learning Implementation and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21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Analyse a fine-tuned model against state-of-the-art benchmarks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22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Identify sources of bias and implement fairness-enhancing interventions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23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Apply interpretability and explainability methods to a generative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24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Build a training pipeline that continues pre-training from an existing checkpoint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25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Deploy and operationalize a fine-tuned model across serving targets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Lab 26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Deliver a complete fine-tuning solution from data to deployment with 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LU4 · 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Common Mistakes — Machine Learning Implementation and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Benchmarking on training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It produces a flattering number that predicts nothing.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Only comparing to the previous fine-tune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model that beats its predecessor but loses to the base model is a regression.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Skipping the forgetting check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Domain gains routinely cost general capability. Measure it on a task you did not target.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Claiming fairness without measurement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 unmeasured intervention is a claim, not a mitigation. Run a counterfactual audit.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Explaining with attention alone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Attention is correlational. Support any regulatory claim with a second, causal method.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Shipping without a model card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Intended use, data, evaluation and limitations — without these the deployment is not auditable.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LO1 · Ingested and prepared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Built a versioned data repository, generated synthetic data, ingested from four sources and transformed to the model's chat template.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LO2 · Optimised data pipelines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Sanitised a corpus end to end, engineered prompt-side features, built an ETL pipeline with a quality gate, and profiled the dataset.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LO3 · Fine-tuned models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Implemented LoRA from first principles, then fine-tuned with PEFT, QLoRA and Unsloth, monitored stability and optimised hyperparameters.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LO4 · Analysed for bias and benchmarks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Benchmarked against the base model, audited for demographic bias, applied explainability methods and deployed the result.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177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Ten Things to Remember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Diagnose before you train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Prompt engineering fixes instructions, RAG fixes facts, fine tuning fixes behaviour.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85074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 starts at zero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LoRA begins as an exact no-op and only ever adds to the frozen 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283281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Target ALL linear layers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Attention-only targeting is the most common cause of a disappointing fine-tune.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70479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0479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277246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283281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Clean beats big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thousand curated examples beat a hundred thousand dirty 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375452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Get the chat template right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template mismatch trains cleanly and behaves badly. Always append EOS.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362651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362651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369417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375452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Learning rate first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2e-4 for LoRA. Tune it before anything else; it dominates every other choice.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467624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Read the curve, not the number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Divergence, overfitting and stalling each have a distinct signature.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1636" y="4548225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1636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87668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7668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9188" y="4676241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Benchmark against the base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And check for catastrophic forgetting on a task you did not target.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64792" y="559795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Measure bias, don't assume 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Counterfactual testing before and after every intervention.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31636" y="5469940"/>
            <a:ext cx="5180076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31636" y="5469940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487668" y="5537605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7668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19188" y="5597956"/>
            <a:ext cx="3973068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Ship the model card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Intended use, data, evaluation and limitations — or the deployment is not auditable.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178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Continue Your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Unsloth documentation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https://unsloth.ai/docs — the reference for every FastLanguageModel option.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Hugging Face PEFT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https://huggingface.co/docs/peft — LoRA, DoRA, AdaLoRA and the full adapter family.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Hugging Face TRL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https://huggingface.co/docs/trl — SFTTrainer, DPO and preference optimisation.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Redo the labs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Rebuild each lab from a blank notebook until the workflow is automatic.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Fine-tune your own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Take the capstone pipeline and point it at a dataset from your own work.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Publish 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Push your adapter and model card to the Hugging Face Hub and gather feedback.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179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WITH TERTIARY INFOTECH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Generative AI with Large Language Models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Machine Learning with Python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Deep Learning with PyTorch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Retrieval Augmented Generation (RAG) with LangChain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Agentic AI Applications with Claude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180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WE'RE HERE TO 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LMS / TMS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https://lms-tms.tertiaryinfotech.com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Course page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www.tertiarycourses.com.sg/fine-tuning-open-source-llm.html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Venue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12 Woodlands Square #07-85/86/87, Singapore 737715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04672"/>
            <a:ext cx="10881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Share your feedback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Complete the course-feedback form before you leave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Trainer shares the link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trainer displays the feedback form link and QR code.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Tell us what worked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Share what worked best and what needs more 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Certificate of completion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Your e-certificate of completion is issued after the course.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HAPPY FINE-TUNING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build a fine-tuning dataset, adapt a pre-trained model with LoRA, QLoRA and Unsloth, and evaluate the result for quality, bias and benchmark alignment.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Fine Tuning Open Source LLM  ·  C922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183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 Tuning Open Source LLM (C922)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